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4864" cy="50292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 i="0" spc="200">
                <a:solidFill>
                  <a:srgbClr val="FFFFFF"/>
                </a:solidFill>
                <a:latin typeface="Georgia"/>
              </a:rPr>
              <a:t>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BC4B6"/>
                </a:solidFill>
                <a:latin typeface="Calibri"/>
              </a:rPr>
              <a:t>infraestrutura autônoma de criação de ventures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108960"/>
            <a:ext cx="1371600" cy="2286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FFFFFF"/>
                </a:solidFill>
                <a:latin typeface="Georgia"/>
              </a:rPr>
              <a:t>Sistemas de seleção e construção de startups,
operando com fração do custo e do tempo do modelo tradicional.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52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Apresentação Estratégica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126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Marcos Truijo  ·  Maio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O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155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1A1A1A"/>
                </a:solidFill>
                <a:latin typeface="Georgia"/>
              </a:rPr>
              <a:t>Capital existe. Ideias existem.
O que falta é seleção e execução acessível.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54864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73152" cy="30175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4748B"/>
                </a:solidFill>
                <a:latin typeface="Calibri"/>
              </a:rPr>
              <a:t>MERCADO DE VENTURE CAPITAL · BRICS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1A1A"/>
                </a:solidFill>
                <a:latin typeface="Georgia"/>
              </a:rPr>
              <a:t>US$ 11,5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movimentados anualmente em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25780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Brasil sozinho responde por US$ 4,5 bi em 459 rodadas.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926080"/>
            <a:ext cx="548640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926080"/>
            <a:ext cx="73152" cy="30175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64748B"/>
                </a:solidFill>
                <a:latin typeface="Calibri"/>
              </a:rPr>
              <a:t>STARTUPS QUE NÃO SOBREVIVEM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A1A1A"/>
                </a:solidFill>
                <a:latin typeface="Georgia"/>
              </a:rPr>
              <a:t>65 %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006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morrem nos primeiros 10 anos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25780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Quase metade fracassa antes do quinto ano.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Fontes: Statista (2025), Bloomberg Línea, U.S. Bureau of Labor Statistics.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AS CAUSAS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A1A1A"/>
                </a:solidFill>
                <a:latin typeface="Georgia"/>
              </a:rPr>
              <a:t>Por que startups falham — segundo as próprias startups.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34155"/>
                </a:solidFill>
                <a:latin typeface="Calibri"/>
              </a:rPr>
              <a:t>As três principais causas concentram-se nas fases iniciais — exatamente onde a Forge atua.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365760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3657600" cy="73152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1A1A1A"/>
                </a:solidFill>
                <a:latin typeface="Georgia"/>
              </a:rPr>
              <a:t>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343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E25822"/>
                </a:solidFill>
                <a:latin typeface="Calibri"/>
              </a:rPr>
              <a:t>FALTA DE PRODUCT-MARKET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80060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O produto não atende a uma necessidade real de mercado.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606040"/>
            <a:ext cx="365760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606040"/>
            <a:ext cx="3657600" cy="73152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8803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1A1A1A"/>
                </a:solidFill>
                <a:latin typeface="Georgia"/>
              </a:rPr>
              <a:t>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43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E25822"/>
                </a:solidFill>
                <a:latin typeface="Calibri"/>
              </a:rPr>
              <a:t>CAPITAL QUEIMADO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80060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Recursos esgotam antes de chegar a tração ou a Series 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606040"/>
            <a:ext cx="365760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606040"/>
            <a:ext cx="3657600" cy="73152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88036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0" b="1" i="0">
                <a:solidFill>
                  <a:srgbClr val="1A1A1A"/>
                </a:solidFill>
                <a:latin typeface="Georgia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343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150">
                <a:solidFill>
                  <a:srgbClr val="E25822"/>
                </a:solidFill>
                <a:latin typeface="Calibri"/>
              </a:rPr>
              <a:t>TIME ERRADO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0060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Composição de fundadores incompatível com a tese ou a execução.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943600"/>
            <a:ext cx="11155680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Georgia"/>
              </a:rPr>
              <a:t>Discovery, validação e construção do MVP — a janela onde 80% das falhas se decidem.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Fonte: CB Insights — "Top reasons startups fail".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A TESE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i="1">
                <a:solidFill>
                  <a:srgbClr val="A0998C"/>
                </a:solidFill>
                <a:latin typeface="Georgia"/>
              </a:rPr>
              <a:t>Forge não é uma fábrica de ideias
com inteligência artificial.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É um sistema de SELEÇÃO.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617720"/>
            <a:ext cx="1371600" cy="36576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1155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D9D2C4"/>
                </a:solidFill>
                <a:latin typeface="Calibri"/>
              </a:rPr>
              <a:t>Uma organização artificial que descobre, valida, constrói, lança e
evolui startups com mínima intervenção humana — operando
com fração do custo e do tempo do modelo tradicional.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25822"/>
                </a:solidFill>
                <a:latin typeface="Georgia"/>
              </a:rPr>
              <a:t>FORGE</a:t>
            </a:r>
          </a:p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  ·  Apresentação Estratégica  ·  Mai/2026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A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Georgia"/>
              </a:rPr>
              <a:t>Oito módulos. Um único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34155"/>
                </a:solidFill>
                <a:latin typeface="Calibri"/>
              </a:rPr>
              <a:t>Cada módulo é um SaaS independente, orquestrado pelo Forge Core. Princípio: seleção é mais importante que produção.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45720" cy="18288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1A1A1A"/>
                </a:solidFill>
                <a:latin typeface="Georgia"/>
              </a:rPr>
              <a:t>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39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Descobre e prioriza oportunidades de venture.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219456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10712" y="2194560"/>
            <a:ext cx="45720" cy="18288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331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1A1A1A"/>
                </a:solidFill>
                <a:latin typeface="Georgia"/>
              </a:rPr>
              <a:t>ADDVENTURE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063239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Transforma oportunidade em tese estruturada.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3" y="219456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3" y="2194560"/>
            <a:ext cx="45720" cy="18288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2331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1A1A1A"/>
                </a:solidFill>
                <a:latin typeface="Georgia"/>
              </a:rPr>
              <a:t>BRANDAID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063239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Constrói identidade de marca e narrativa.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34856" y="219456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4856" y="2194560"/>
            <a:ext cx="45720" cy="18288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2331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1A1A1A"/>
                </a:solidFill>
                <a:latin typeface="Georgia"/>
              </a:rPr>
              <a:t>BUILDER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063239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Constrói o MVP funcional pronto pra teste.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20624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206240"/>
            <a:ext cx="45720" cy="18288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177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1A1A1A"/>
                </a:solidFill>
                <a:latin typeface="Georgia"/>
              </a:rPr>
              <a:t>GTM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Lançamento, tração inicial e distribuição.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0712" y="420624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10712" y="4206240"/>
            <a:ext cx="45720" cy="18288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4343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Georgia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93592" y="46177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1A1A1A"/>
                </a:solidFill>
                <a:latin typeface="Georgia"/>
              </a:rPr>
              <a:t>STARTUPOPS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2" y="50749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Monitora métricas e propõe ajustes.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3" y="420624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3" y="4206240"/>
            <a:ext cx="45720" cy="18288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4343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Georgia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46177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1A1A1A"/>
                </a:solidFill>
                <a:latin typeface="Georgia"/>
              </a:rPr>
              <a:t>PORTFOLIO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50749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Decide alocação de capital entre ventures.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34856" y="420624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34856" y="4206240"/>
            <a:ext cx="45720" cy="18288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17736" y="43434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Georgia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7736" y="461772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100">
                <a:solidFill>
                  <a:srgbClr val="1A1A1A"/>
                </a:solidFill>
                <a:latin typeface="Georgia"/>
              </a:rPr>
              <a:t>FORGEMEMORY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17736" y="50749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Memória transversal e aprendizado acumulado.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Forge Core orquestra o fluxo: Discovery → Formulation → Qualification → Prioritization → Promotion.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O DIFERENCIAL ESTRATÉGICO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A1A1A"/>
                </a:solidFill>
                <a:latin typeface="Georgia"/>
              </a:rPr>
              <a:t>Investidor não é
espectador de algoritmo.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E25822"/>
                </a:solidFill>
                <a:latin typeface="Georgia"/>
              </a:rPr>
              <a:t>É protagonista da tese.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1371600" cy="27432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62179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Decks frios e dashboards passivos não constroem relação com capital.
</a:t>
            </a:r>
          </a:p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334155"/>
                </a:solidFill>
                <a:latin typeface="Calibri"/>
              </a:rPr>
              <a:t>Por isso a Forge preserva — por design — a camada humana onde o investidor importa:
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·  acessa as teses em curadoria,
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·  vota em alocações de portfólio,
</a:t>
            </a:r>
          </a:p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·  acompanha cada venture como autor, não como observador.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914400"/>
            <a:ext cx="4663440" cy="5120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914400"/>
            <a:ext cx="4663440" cy="457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005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E25822"/>
                </a:solidFill>
                <a:latin typeface="Calibri"/>
              </a:rPr>
              <a:t>FORGE  ·  Investor Cockpit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828800"/>
            <a:ext cx="4114800" cy="77724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79" y="2121408"/>
            <a:ext cx="201168" cy="201168"/>
          </a:xfrm>
          <a:prstGeom prst="ellipse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FFFFF"/>
                </a:solidFill>
                <a:latin typeface="Calibri"/>
              </a:rPr>
              <a:t>Venture #014  ·  Aprovar tese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128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score 8.7  ·  decisão pendente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743200"/>
            <a:ext cx="4114800" cy="77724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79" y="3035808"/>
            <a:ext cx="201168" cy="201168"/>
          </a:xfrm>
          <a:prstGeom prst="ellipse">
            <a:avLst/>
          </a:prstGeom>
          <a:solidFill>
            <a:srgbClr val="F7C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834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FFFFF"/>
                </a:solidFill>
                <a:latin typeface="Calibri"/>
              </a:rPr>
              <a:t>Venture #009  ·  Em validação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1272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PMF 62%  ·  burn R$ 18k/mês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657600"/>
            <a:ext cx="4114800" cy="77724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79" y="3950208"/>
            <a:ext cx="201168" cy="201168"/>
          </a:xfrm>
          <a:prstGeom prst="ellipse">
            <a:avLst/>
          </a:prstGeom>
          <a:solidFill>
            <a:srgbClr val="4AE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74903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FFFFF"/>
                </a:solidFill>
                <a:latin typeface="Calibri"/>
              </a:rPr>
              <a:t>Venture #003  ·  GTM 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0416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ARR R$ 48k  ·  growth 31% MoM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572000"/>
            <a:ext cx="4114800" cy="77724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79" y="4864608"/>
            <a:ext cx="201168" cy="201168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4663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FFFFFF"/>
                </a:solidFill>
                <a:latin typeface="Calibri"/>
              </a:rPr>
              <a:t>Pipeline geral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9560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47 oportunidades  ·  12 em curadoria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5669280"/>
            <a:ext cx="4114800" cy="2743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566928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200">
                <a:solidFill>
                  <a:srgbClr val="FFFFFF"/>
                </a:solidFill>
                <a:latin typeface="Calibri"/>
              </a:rPr>
              <a:t>PARTICIPAR DA PRÓXIMA RODADA DE ALOCAÇÃO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Georgia"/>
              </a:rPr>
              <a:t>O custo de uma startup, recalculado.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34155"/>
                </a:solidFill>
                <a:latin typeface="Calibri"/>
              </a:rPr>
              <a:t>Comparação entre o caminho tradicional e o caminho via Forge — fases iniciais (Discovery → MVP → Tração).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24712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945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200">
                <a:solidFill>
                  <a:srgbClr val="FFFFFF"/>
                </a:solidFill>
                <a:latin typeface="Calibri"/>
              </a:rPr>
              <a:t>STARTUP TRADICIONAL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945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200">
                <a:solidFill>
                  <a:srgbClr val="FFFFFF"/>
                </a:solidFill>
                <a:latin typeface="Calibri"/>
              </a:rPr>
              <a:t>VENTURE VIA FORGE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39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83463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Tempo de Discovery &amp; 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834639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3 — 6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834639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25822"/>
                </a:solidFill>
                <a:latin typeface="Calibri"/>
              </a:rPr>
              <a:t>1 — 2 semanas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11247120" cy="640080"/>
          </a:xfrm>
          <a:prstGeom prst="rect">
            <a:avLst/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4747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Custo de validação até protótipo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4747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R$ 25k — R$ 75k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747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25822"/>
                </a:solidFill>
                <a:latin typeface="Calibri"/>
              </a:rPr>
              <a:t>R$ 5k — R$ 12k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1148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Custo de MVP funcional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1148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R$ 75k — R$ 750k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25822"/>
                </a:solidFill>
                <a:latin typeface="Calibri"/>
              </a:rPr>
              <a:t>R$ 30k — R$ 80k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79"/>
            <a:ext cx="11247120" cy="640080"/>
          </a:xfrm>
          <a:prstGeom prst="rect">
            <a:avLst/>
          </a:prstGeom>
          <a:solidFill>
            <a:srgbClr val="EC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754879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Tempo até Series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754879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≈ 56 meses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54879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25822"/>
                </a:solidFill>
                <a:latin typeface="Calibri"/>
              </a:rPr>
              <a:t>≈ 25 meses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9496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39496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Taxa de chegada à Series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3949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334155"/>
                </a:solidFill>
                <a:latin typeface="Calibri"/>
              </a:rPr>
              <a:t>≈ 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E25822"/>
                </a:solidFill>
                <a:latin typeface="Calibri"/>
              </a:rPr>
              <a:t>≈ 60%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194560"/>
            <a:ext cx="54864" cy="3840479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Benchmarks: GSSN, Failory, MVP cost surveys 2025. Tickets em R$.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O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BRICS é o pool de capital que ainda
não foi industrializado.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A0998C"/>
                </a:solidFill>
                <a:latin typeface="Calibri"/>
              </a:rPr>
              <a:t>Capital existe em volume institucional. Falta infraestrutura de origination e execução em escala.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86400" cy="19659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54864" cy="196596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US$ 11,5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25822"/>
                </a:solidFill>
                <a:latin typeface="Calibri"/>
              </a:rPr>
              <a:t>VENTURE CAPITAL · BRICS ·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88620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A0998C"/>
                </a:solidFill>
                <a:latin typeface="Calibri"/>
              </a:rPr>
              <a:t>Volume anual de investimento em ventures dentro dos BRICS.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468880"/>
            <a:ext cx="5486400" cy="19659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468880"/>
            <a:ext cx="54864" cy="196596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6517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US$ 106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3520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25822"/>
                </a:solidFill>
                <a:latin typeface="Calibri"/>
              </a:rPr>
              <a:t>CAPITAL RAISING TOTAL · BRICS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388620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A0998C"/>
                </a:solidFill>
                <a:latin typeface="Calibri"/>
              </a:rPr>
              <a:t>Pool agregado de captação no bloco — VC, PE, dívida e equity privado.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5486400" cy="19659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54864" cy="196596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754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US$ 32,8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5623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25822"/>
                </a:solidFill>
                <a:latin typeface="Calibri"/>
              </a:rPr>
              <a:t>ALOCADOS PELO NDB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9893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A0998C"/>
                </a:solidFill>
                <a:latin typeface="Calibri"/>
              </a:rPr>
              <a:t>96+ projetos aprovados pelo New Development Bank desde 2015.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572000"/>
            <a:ext cx="5486400" cy="19659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572000"/>
            <a:ext cx="54864" cy="196596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47548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US$ 4,5 bi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5623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E25822"/>
                </a:solidFill>
                <a:latin typeface="Calibri"/>
              </a:rPr>
              <a:t>BRASIL · VENTURE CAPITAL ·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598932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A0998C"/>
                </a:solidFill>
                <a:latin typeface="Calibri"/>
              </a:rPr>
              <a:t>459 rodadas. Brasil concentra hub de inovação da AL na década.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  <a:latin typeface="Calibri"/>
              </a:rPr>
              <a:t>Fontes: Statista BRICS Outlook (2025), UNCTAD BRICS Investment Report, NDB Annual Report, Bloomberg Línea.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A TRAJETÓRIA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Georgia"/>
              </a:rPr>
              <a:t>Não estamos perseguindo o mercado todo.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34155"/>
                </a:solidFill>
                <a:latin typeface="Calibri"/>
              </a:rPr>
              <a:t>Estamos calibrando uma fatia. A janela de captura deliberada — disciplinada por seleção, não por volume.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035040"/>
            <a:ext cx="7315200" cy="2286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8700" y="5870448"/>
            <a:ext cx="868680" cy="164592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" y="5230368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Georgia"/>
              </a:rPr>
              <a:t>0,1%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" y="55046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US$ 11,5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" y="612647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Ano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91740" y="5376672"/>
            <a:ext cx="868680" cy="658368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5980" y="473659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Georgia"/>
              </a:rPr>
              <a:t>0,4%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5980" y="501091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US$ 46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5980" y="612647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Ano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54780" y="4553712"/>
            <a:ext cx="868680" cy="1481328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9020" y="3913631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Georgia"/>
              </a:rPr>
              <a:t>0,9%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9020" y="4187951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US$ 104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9020" y="612647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Ano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7820" y="3730752"/>
            <a:ext cx="868680" cy="2304288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2060" y="309067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Georgia"/>
              </a:rPr>
              <a:t>1,4%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2060" y="336499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US$ 161 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2060" y="612647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Ano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80860" y="2743199"/>
            <a:ext cx="868680" cy="329184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5100" y="210312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Georgia"/>
              </a:rPr>
              <a:t>2,0%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237743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334155"/>
                </a:solidFill>
                <a:latin typeface="Calibri"/>
              </a:rPr>
              <a:t>US$ 230 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6126479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Ano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377440"/>
            <a:ext cx="3200400" cy="3657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0" y="2377440"/>
            <a:ext cx="54864" cy="36576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606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E25822"/>
                </a:solidFill>
                <a:latin typeface="Calibri"/>
              </a:rPr>
              <a:t>LEITURA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2971800"/>
            <a:ext cx="27432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A0998C"/>
                </a:solidFill>
                <a:latin typeface="Calibri"/>
              </a:rPr>
              <a:t>% sobre o pool de US$ 11,5 bi anuais (VC BRICS, base 2025).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5 anos.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25822"/>
                </a:solidFill>
                <a:latin typeface="Georgia"/>
              </a:rPr>
              <a:t>20× crescimento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em arrasto sob orquestração.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CBC4B6"/>
                </a:solidFill>
                <a:latin typeface="Calibri"/>
              </a:rPr>
              <a:t>Sem inflar — sem perseguir IPOs simbólicos. Disciplinado por seleção.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Cenário ilustrativo de captura. Base: VC BRICS 2025 (US$ 11,5 bi). Conservador.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TRAÇÃO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Georgia"/>
              </a:rPr>
              <a:t>Onde a Forge está hoje.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34155"/>
                </a:solidFill>
                <a:latin typeface="Calibri"/>
              </a:rPr>
              <a:t>Estado real do projeto — sem inflar projeções.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10332720" cy="36576"/>
          </a:xfrm>
          <a:prstGeom prst="rect">
            <a:avLst/>
          </a:prstGeom>
          <a:solidFill>
            <a:srgbClr val="D6C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41398" y="2871216"/>
            <a:ext cx="329184" cy="329184"/>
          </a:xfrm>
          <a:prstGeom prst="ellipse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32838" y="2962656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5830" y="347472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5830" y="3474720"/>
            <a:ext cx="2560320" cy="457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8710" y="3657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E25822"/>
                </a:solidFill>
                <a:latin typeface="Calibri"/>
              </a:rPr>
              <a:t>CONCLUÍDO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710" y="3977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Arquitetura completa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710" y="45262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8 módulos especificados
conceitual e funcionalmente.</a:t>
            </a:r>
          </a:p>
        </p:txBody>
      </p:sp>
      <p:sp>
        <p:nvSpPr>
          <p:cNvPr id="14" name="Oval 13"/>
          <p:cNvSpPr/>
          <p:nvPr/>
        </p:nvSpPr>
        <p:spPr>
          <a:xfrm>
            <a:off x="4624578" y="2871216"/>
            <a:ext cx="329184" cy="329184"/>
          </a:xfrm>
          <a:prstGeom prst="ellipse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16018" y="2962656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09010" y="347472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9010" y="3474720"/>
            <a:ext cx="2560320" cy="457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91890" y="3657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E25822"/>
                </a:solidFill>
                <a:latin typeface="Calibri"/>
              </a:rPr>
              <a:t>EM CURSO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1890" y="3977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MVP do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1890" y="45262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Primeiro módulo do pipeline
rodando em produção restrita.</a:t>
            </a:r>
          </a:p>
        </p:txBody>
      </p:sp>
      <p:sp>
        <p:nvSpPr>
          <p:cNvPr id="21" name="Oval 20"/>
          <p:cNvSpPr/>
          <p:nvPr/>
        </p:nvSpPr>
        <p:spPr>
          <a:xfrm>
            <a:off x="7207758" y="2871216"/>
            <a:ext cx="329184" cy="329184"/>
          </a:xfrm>
          <a:prstGeom prst="ellipse">
            <a:avLst/>
          </a:prstGeom>
          <a:solidFill>
            <a:srgbClr val="B84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99198" y="2962656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2190" y="347472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2190" y="3474720"/>
            <a:ext cx="2560320" cy="45720"/>
          </a:xfrm>
          <a:prstGeom prst="rect">
            <a:avLst/>
          </a:prstGeom>
          <a:solidFill>
            <a:srgbClr val="B846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5070" y="3657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B8461B"/>
                </a:solidFill>
                <a:latin typeface="Calibri"/>
              </a:rPr>
              <a:t>PRÓXIMO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5070" y="3977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Primeira venture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5070" y="45262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Pipeline Discovery → MVP
em curadoria ativa.</a:t>
            </a:r>
          </a:p>
        </p:txBody>
      </p:sp>
      <p:sp>
        <p:nvSpPr>
          <p:cNvPr id="28" name="Oval 27"/>
          <p:cNvSpPr/>
          <p:nvPr/>
        </p:nvSpPr>
        <p:spPr>
          <a:xfrm>
            <a:off x="9790938" y="2871216"/>
            <a:ext cx="329184" cy="329184"/>
          </a:xfrm>
          <a:prstGeom prst="ellipse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2378" y="2962656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75370" y="3474720"/>
            <a:ext cx="256032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75370" y="3474720"/>
            <a:ext cx="2560320" cy="457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58250" y="36576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334155"/>
                </a:solidFill>
                <a:latin typeface="Calibri"/>
              </a:rPr>
              <a:t>HORIZONTE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8250" y="39776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Georgia"/>
              </a:rPr>
              <a:t>Forge 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8250" y="45262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Orquestrador transversal
e ForgeMemory acumulando.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126480"/>
            <a:ext cx="11155680" cy="4114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12648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Georgia"/>
              </a:rPr>
              <a:t>Estamos no momento exato em que estrutura e capital se encontram para destravar a primeira coorte.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O QUE PRECISAMOS AO 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Capital sozinho não destrava esta tese.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BC4B6"/>
                </a:solidFill>
                <a:latin typeface="Calibri"/>
              </a:rPr>
              <a:t>Precisamos de gravidade institucional — figuras com acesso ao capital paciente que move o eixo BRICS.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54480" y="2926080"/>
            <a:ext cx="3383280" cy="1554480"/>
          </a:xfrm>
          <a:prstGeom prst="line">
            <a:avLst/>
          </a:prstGeom>
          <a:ln w="12700">
            <a:solidFill>
              <a:srgbClr val="4A4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26280" y="2788920"/>
            <a:ext cx="411480" cy="1691640"/>
          </a:xfrm>
          <a:prstGeom prst="line">
            <a:avLst/>
          </a:prstGeom>
          <a:ln w="12700">
            <a:solidFill>
              <a:srgbClr val="4A4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4937760" y="2926080"/>
            <a:ext cx="2560319" cy="1554480"/>
          </a:xfrm>
          <a:prstGeom prst="line">
            <a:avLst/>
          </a:prstGeom>
          <a:ln w="12700">
            <a:solidFill>
              <a:srgbClr val="4A4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377440" y="4480560"/>
            <a:ext cx="2560320" cy="1463040"/>
          </a:xfrm>
          <a:prstGeom prst="line">
            <a:avLst/>
          </a:prstGeom>
          <a:ln w="12700">
            <a:solidFill>
              <a:srgbClr val="4A4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4937760" y="4480560"/>
            <a:ext cx="1737360" cy="1463040"/>
          </a:xfrm>
          <a:prstGeom prst="line">
            <a:avLst/>
          </a:prstGeom>
          <a:ln w="12700">
            <a:solidFill>
              <a:srgbClr val="4A4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977639" y="3520440"/>
            <a:ext cx="1188720" cy="1188720"/>
          </a:xfrm>
          <a:prstGeom prst="ellipse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3703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 spc="300">
                <a:solidFill>
                  <a:srgbClr val="FFFFFF"/>
                </a:solidFill>
                <a:latin typeface="Georgia"/>
              </a:rPr>
              <a:t>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0690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infraestrutura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2793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de ventures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68880"/>
            <a:ext cx="1691640" cy="9601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468880"/>
            <a:ext cx="54864" cy="9601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56032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Calibri"/>
              </a:rPr>
              <a:t>LPs SOBERANOS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97180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A0998C"/>
                </a:solidFill>
                <a:latin typeface="Calibri"/>
              </a:rPr>
              <a:t>Sovereign wealth
&amp; family offices BRICS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2331720"/>
            <a:ext cx="1691640" cy="9601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03320" y="2331720"/>
            <a:ext cx="54864" cy="9601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7911" y="242316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Calibri"/>
              </a:rPr>
              <a:t>GOVERNOS BRICS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1" y="283463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A0998C"/>
                </a:solidFill>
                <a:latin typeface="Calibri"/>
              </a:rPr>
              <a:t>Diplomacia institucional
+ canais multilaterais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468880"/>
            <a:ext cx="1691640" cy="9601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2468880"/>
            <a:ext cx="54864" cy="9601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256032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Calibri"/>
              </a:rPr>
              <a:t>FAMILY OFFICES
ESTRATÉGICOS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297180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A0998C"/>
                </a:solidFill>
                <a:latin typeface="Calibri"/>
              </a:rPr>
              <a:t>Capital paciente
com horizonte de década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5486400"/>
            <a:ext cx="1691640" cy="9601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4480" y="5486400"/>
            <a:ext cx="54864" cy="9601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19072" y="557784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Calibri"/>
              </a:rPr>
              <a:t>BANCOS DE
DESENVOLVIMENTO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598932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A0998C"/>
                </a:solidFill>
                <a:latin typeface="Calibri"/>
              </a:rPr>
              <a:t>NDB · BNDES · CAF
KDB · DBSA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5486400"/>
            <a:ext cx="1691640" cy="9601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52160" y="5486400"/>
            <a:ext cx="54864" cy="96012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6752" y="5577840"/>
            <a:ext cx="1508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50">
                <a:solidFill>
                  <a:srgbClr val="FFFFFF"/>
                </a:solidFill>
                <a:latin typeface="Calibri"/>
              </a:rPr>
              <a:t>CAPITAL MULTILATERAL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752" y="5989320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A0998C"/>
                </a:solidFill>
                <a:latin typeface="Calibri"/>
              </a:rPr>
              <a:t>Impact funds · IFC
Blended finance vehicles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2331720"/>
            <a:ext cx="2926080" cy="4023360"/>
          </a:xfrm>
          <a:prstGeom prst="rect">
            <a:avLst/>
          </a:prstGeom>
          <a:solidFill>
            <a:srgbClr val="261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2331720"/>
            <a:ext cx="64008" cy="402336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251460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E25822"/>
                </a:solidFill>
                <a:latin typeface="Calibri"/>
              </a:rPr>
              <a:t>CORNERSTONE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88036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R$ 30 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794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BC4B6"/>
                </a:solidFill>
                <a:latin typeface="Calibri"/>
              </a:rPr>
              <a:t>captação âncora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2560" y="4297680"/>
            <a:ext cx="914400" cy="18288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4434840"/>
            <a:ext cx="26060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A0998C"/>
                </a:solidFill>
                <a:latin typeface="Calibri"/>
              </a:rPr>
              <a:t>Para destravar:
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·  Forge Core
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·  Primeira coorte de ventures
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·  Operação 24 meses
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·  Time-chave full-time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4864" cy="5029200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E25822"/>
                </a:solidFill>
                <a:latin typeface="Calibri"/>
              </a:rPr>
              <a:t>VISÃO · 2031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Forge é a infraestrutura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5486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de ventures 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514600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25822"/>
                </a:solidFill>
                <a:latin typeface="Georgia"/>
              </a:rPr>
              <a:t>BRICS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para o mundo.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709160"/>
            <a:ext cx="1371600" cy="36576"/>
          </a:xfrm>
          <a:prstGeom prst="rect">
            <a:avLst/>
          </a:prstGeom>
          <a:solidFill>
            <a:srgbClr val="E25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CBC4B6"/>
                </a:solidFill>
                <a:latin typeface="Georgia"/>
              </a:rPr>
              <a:t>Conectando capital institucional do bloco a oportunidades selecionadas
com rigor algorítmico e protagonismo humano — em escala industrial.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E25822"/>
                </a:solidFill>
                <a:latin typeface="Georgia"/>
              </a:rPr>
              <a:t>FORGE</a:t>
            </a:r>
          </a:p>
          <a:p>
            <a:pPr algn="l"/>
            <a:r>
              <a:rPr sz="1100" b="0" i="1" spc="200">
                <a:solidFill>
                  <a:srgbClr val="A0998C"/>
                </a:solidFill>
                <a:latin typeface="Calibri"/>
              </a:rPr>
              <a:t>  ·  construído nos BRICS  ·  para o mundo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