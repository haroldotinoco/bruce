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164592" cy="164592"/>
          </a:xfrm>
          <a:prstGeom prst="rect">
            <a:avLst/>
          </a:prstGeom>
          <a:solidFill>
            <a:srgbClr val="E25822"/>
          </a:solidFill>
          <a:ln w="12700">
            <a:solidFill>
              <a:srgbClr val="E258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  ·  infraestrutura autônoma de criação de ventures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468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E258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KICKOFF  ·  Q3 ·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Onboarding do time.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42062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5F2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 a gente para de planejar e começa a construir.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5897880"/>
            <a:ext cx="1124712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6035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de maio de 2026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702552" y="60350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4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 ·  interno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817352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12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E258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TESE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Forge é um sistema de seleção. Não uma fábrica de ideias.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não morre por falta de execução. Morre por escolher o problema errado, validar com o método errado e construir o produto errado. A Forge ataca exatamente essa janela.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93776" y="3291840"/>
            <a:ext cx="361188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CBC4B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93776" y="3291840"/>
            <a:ext cx="3611880" cy="54864"/>
          </a:xfrm>
          <a:prstGeom prst="rect">
            <a:avLst/>
          </a:prstGeom>
          <a:solidFill>
            <a:srgbClr val="E25822"/>
          </a:solidFill>
          <a:ln w="12700">
            <a:solidFill>
              <a:srgbClr val="E258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" y="356616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65%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768096" y="461772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258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STARTUPS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68096" y="4919472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morrem em 10 anos. Quase metade antes do quinto.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88536" y="3291840"/>
            <a:ext cx="361188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CBC4B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88536" y="3291840"/>
            <a:ext cx="3611880" cy="54864"/>
          </a:xfrm>
          <a:prstGeom prst="rect">
            <a:avLst/>
          </a:prstGeom>
          <a:solidFill>
            <a:srgbClr val="E25822"/>
          </a:solidFill>
          <a:ln w="12700">
            <a:solidFill>
              <a:srgbClr val="E258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62856" y="356616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42%</a:t>
            </a:r>
            <a:endParaRPr lang="en-US" sz="5600" dirty="0"/>
          </a:p>
        </p:txBody>
      </p:sp>
      <p:sp>
        <p:nvSpPr>
          <p:cNvPr id="13" name="Text 11"/>
          <p:cNvSpPr/>
          <p:nvPr/>
        </p:nvSpPr>
        <p:spPr>
          <a:xfrm>
            <a:off x="4562856" y="461772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258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DE PMF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62856" y="4919472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 não atende necessidade real de mercado.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083296" y="3291840"/>
            <a:ext cx="361188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CBC4B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83296" y="3291840"/>
            <a:ext cx="3611880" cy="54864"/>
          </a:xfrm>
          <a:prstGeom prst="rect">
            <a:avLst/>
          </a:prstGeom>
          <a:solidFill>
            <a:srgbClr val="E25822"/>
          </a:solidFill>
          <a:ln w="12700">
            <a:solidFill>
              <a:srgbClr val="E258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57616" y="356616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38%</a:t>
            </a:r>
            <a:endParaRPr lang="en-US" sz="5600" dirty="0"/>
          </a:p>
        </p:txBody>
      </p:sp>
      <p:sp>
        <p:nvSpPr>
          <p:cNvPr id="18" name="Text 16"/>
          <p:cNvSpPr/>
          <p:nvPr/>
        </p:nvSpPr>
        <p:spPr>
          <a:xfrm>
            <a:off x="8357616" y="461772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258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QUEIMADO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357616" y="4919472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esgotam antes de tração ou Series A.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598932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CB Insights — Top reasons startups fail.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  ·  Onboarding Q3 2026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0817352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E258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ARQUITETURA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Oito módulos. Um orquestrador.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módulo é um SaaS independente. Forge Core orquestra o fluxo: Discovery → Formulation → Build → Launch → Operate → Decide.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2743200"/>
            <a:ext cx="2708910" cy="1531620"/>
          </a:xfrm>
          <a:prstGeom prst="rect">
            <a:avLst/>
          </a:prstGeom>
          <a:solidFill>
            <a:srgbClr val="FFFFFF"/>
          </a:solidFill>
          <a:ln w="6350">
            <a:solidFill>
              <a:srgbClr val="CBC4B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743200"/>
            <a:ext cx="54864" cy="1531620"/>
          </a:xfrm>
          <a:prstGeom prst="rect">
            <a:avLst/>
          </a:prstGeom>
          <a:solidFill>
            <a:srgbClr val="E25822"/>
          </a:solidFill>
          <a:ln w="12700">
            <a:solidFill>
              <a:srgbClr val="E258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8803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258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3246120"/>
            <a:ext cx="234315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3657600"/>
            <a:ext cx="234315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Descobre e prioriza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03270" y="2743200"/>
            <a:ext cx="2708910" cy="1531620"/>
          </a:xfrm>
          <a:prstGeom prst="rect">
            <a:avLst/>
          </a:prstGeom>
          <a:solidFill>
            <a:srgbClr val="FFFFFF"/>
          </a:solidFill>
          <a:ln w="6350">
            <a:solidFill>
              <a:srgbClr val="CBC4B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03270" y="2743200"/>
            <a:ext cx="54864" cy="1531620"/>
          </a:xfrm>
          <a:prstGeom prst="rect">
            <a:avLst/>
          </a:prstGeom>
          <a:solidFill>
            <a:srgbClr val="E25822"/>
          </a:solidFill>
          <a:ln w="12700">
            <a:solidFill>
              <a:srgbClr val="E258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31870" y="28803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258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31870" y="3246120"/>
            <a:ext cx="234315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ADDVENTURE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31870" y="3657600"/>
            <a:ext cx="234315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 oportunidade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tese estruturada.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49340" y="2743200"/>
            <a:ext cx="2708910" cy="1531620"/>
          </a:xfrm>
          <a:prstGeom prst="rect">
            <a:avLst/>
          </a:prstGeom>
          <a:solidFill>
            <a:srgbClr val="FFFFFF"/>
          </a:solidFill>
          <a:ln w="6350">
            <a:solidFill>
              <a:srgbClr val="CBC4B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49340" y="2743200"/>
            <a:ext cx="54864" cy="1531620"/>
          </a:xfrm>
          <a:prstGeom prst="rect">
            <a:avLst/>
          </a:prstGeom>
          <a:solidFill>
            <a:srgbClr val="E25822"/>
          </a:solidFill>
          <a:ln w="12700">
            <a:solidFill>
              <a:srgbClr val="E258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77940" y="28803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258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77940" y="3246120"/>
            <a:ext cx="234315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BRANDAID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77940" y="3657600"/>
            <a:ext cx="234315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Estratégia + identidade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marca.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995410" y="2743200"/>
            <a:ext cx="2708910" cy="1531620"/>
          </a:xfrm>
          <a:prstGeom prst="rect">
            <a:avLst/>
          </a:prstGeom>
          <a:solidFill>
            <a:srgbClr val="FFFFFF"/>
          </a:solidFill>
          <a:ln w="6350">
            <a:solidFill>
              <a:srgbClr val="CBC4B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995410" y="2743200"/>
            <a:ext cx="54864" cy="1531620"/>
          </a:xfrm>
          <a:prstGeom prst="rect">
            <a:avLst/>
          </a:prstGeom>
          <a:solidFill>
            <a:srgbClr val="E25822"/>
          </a:solidFill>
          <a:ln w="12700">
            <a:solidFill>
              <a:srgbClr val="E2582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24010" y="28803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258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224010" y="3246120"/>
            <a:ext cx="234315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224010" y="3657600"/>
            <a:ext cx="234315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funcional, validado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várias camadas.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411980"/>
            <a:ext cx="2708910" cy="1531620"/>
          </a:xfrm>
          <a:prstGeom prst="rect">
            <a:avLst/>
          </a:prstGeom>
          <a:solidFill>
            <a:srgbClr val="FFFFFF"/>
          </a:solidFill>
          <a:ln w="6350">
            <a:solidFill>
              <a:srgbClr val="CBC4B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4411980"/>
            <a:ext cx="54864" cy="1531620"/>
          </a:xfrm>
          <a:prstGeom prst="rect">
            <a:avLst/>
          </a:prstGeom>
          <a:solidFill>
            <a:srgbClr val="E25822"/>
          </a:solidFill>
          <a:ln w="12700">
            <a:solidFill>
              <a:srgbClr val="E2582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" y="454914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258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85800" y="4914900"/>
            <a:ext cx="234315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GTM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85800" y="5326380"/>
            <a:ext cx="234315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Lançamento, canais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tração.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303270" y="4411980"/>
            <a:ext cx="2708910" cy="1531620"/>
          </a:xfrm>
          <a:prstGeom prst="rect">
            <a:avLst/>
          </a:prstGeom>
          <a:solidFill>
            <a:srgbClr val="FFFFFF"/>
          </a:solidFill>
          <a:ln w="6350">
            <a:solidFill>
              <a:srgbClr val="CBC4B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303270" y="4411980"/>
            <a:ext cx="54864" cy="1531620"/>
          </a:xfrm>
          <a:prstGeom prst="rect">
            <a:avLst/>
          </a:prstGeom>
          <a:solidFill>
            <a:srgbClr val="E25822"/>
          </a:solidFill>
          <a:ln w="12700">
            <a:solidFill>
              <a:srgbClr val="E2582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31870" y="454914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258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531870" y="4914900"/>
            <a:ext cx="234315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STARTUPOPS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3531870" y="5326380"/>
            <a:ext cx="234315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operacional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contínua.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149340" y="4411980"/>
            <a:ext cx="2708910" cy="1531620"/>
          </a:xfrm>
          <a:prstGeom prst="rect">
            <a:avLst/>
          </a:prstGeom>
          <a:solidFill>
            <a:srgbClr val="FFFFFF"/>
          </a:solidFill>
          <a:ln w="6350">
            <a:solidFill>
              <a:srgbClr val="CBC4B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149340" y="4411980"/>
            <a:ext cx="54864" cy="1531620"/>
          </a:xfrm>
          <a:prstGeom prst="rect">
            <a:avLst/>
          </a:prstGeom>
          <a:solidFill>
            <a:srgbClr val="E25822"/>
          </a:solidFill>
          <a:ln w="12700">
            <a:solidFill>
              <a:srgbClr val="E2582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77940" y="454914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258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377940" y="4914900"/>
            <a:ext cx="234315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377940" y="5326380"/>
            <a:ext cx="234315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Governança: scale,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iterate, pause, kill.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8995410" y="4411980"/>
            <a:ext cx="2708910" cy="1531620"/>
          </a:xfrm>
          <a:prstGeom prst="rect">
            <a:avLst/>
          </a:prstGeom>
          <a:solidFill>
            <a:srgbClr val="FFFFFF"/>
          </a:solidFill>
          <a:ln w="6350">
            <a:solidFill>
              <a:srgbClr val="CBC4B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995410" y="4411980"/>
            <a:ext cx="54864" cy="1531620"/>
          </a:xfrm>
          <a:prstGeom prst="rect">
            <a:avLst/>
          </a:prstGeom>
          <a:solidFill>
            <a:srgbClr val="E25822"/>
          </a:solidFill>
          <a:ln w="12700">
            <a:solidFill>
              <a:srgbClr val="E2582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224010" y="454914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258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9224010" y="4914900"/>
            <a:ext cx="234315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FORGEMEMORY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9224010" y="5326380"/>
            <a:ext cx="234315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Memória transversal —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aprendizado acumulado.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  ·  Onboarding Q3 2026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10817352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E258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REAL  ·  hoje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Onde estamos no código. Sem inflar.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está rodando, o que está em curso, o que ainda é especificação.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33756" y="2743200"/>
            <a:ext cx="374904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CBC4B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33756" y="2743200"/>
            <a:ext cx="3749040" cy="4572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2356" y="28346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CONCLUÍDO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2356" y="3383280"/>
            <a:ext cx="32918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Monorepo pnpm + Turborepo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local: Postgres, Redis, Qdrant, Temporal, MinIO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Schemas JSON inter-módulo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 Core lifecycle base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registry OpenRouter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19956" y="2743200"/>
            <a:ext cx="374904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CBC4B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19956" y="2743200"/>
            <a:ext cx="3749040" cy="457200"/>
          </a:xfrm>
          <a:prstGeom prst="rect">
            <a:avLst/>
          </a:prstGeom>
          <a:solidFill>
            <a:srgbClr val="E25822"/>
          </a:solidFill>
          <a:ln w="12700">
            <a:solidFill>
              <a:srgbClr val="E258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48556" y="28346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CURSO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448556" y="3383280"/>
            <a:ext cx="32918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M01 Opportunity — MVP rodando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M04 Builder — audit skill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M08 ForgeMemory — cross-venture stub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 via Redis Pub/Sub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reports de orquestração mapeados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06156" y="2743200"/>
            <a:ext cx="374904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CBC4B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06156" y="2743200"/>
            <a:ext cx="3749040" cy="4572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34756" y="28346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ESPECIFICADO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334756" y="3383280"/>
            <a:ext cx="32918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M02 AddVenture, M03 BrandAid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M05 GTM, M06 StartupOps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M07 Portfolio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Multi-tenancy + billing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Clerk + Stripe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  ·  Onboarding Q3 2026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0817352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E258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 ·  2026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está em jogo nos próximos 90 dias.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uma rodada qualquer. É a primeira validação institucional da tese.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33756" y="3108960"/>
            <a:ext cx="3749040" cy="2926080"/>
          </a:xfrm>
          <a:prstGeom prst="rect">
            <a:avLst/>
          </a:prstGeom>
          <a:solidFill>
            <a:srgbClr val="262626"/>
          </a:solidFill>
          <a:ln w="6350">
            <a:solidFill>
              <a:srgbClr val="4040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33756" y="3108960"/>
            <a:ext cx="3749040" cy="54864"/>
          </a:xfrm>
          <a:prstGeom prst="rect">
            <a:avLst/>
          </a:prstGeom>
          <a:solidFill>
            <a:srgbClr val="E25822"/>
          </a:solidFill>
          <a:ln w="12700">
            <a:solidFill>
              <a:srgbClr val="E258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8076" y="3337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E258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08076" y="374904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Marcos Troyjo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08076" y="484632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2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 aberta para a captação.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2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direto a family offices e capital institucional BRICS.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19956" y="3108960"/>
            <a:ext cx="3749040" cy="2926080"/>
          </a:xfrm>
          <a:prstGeom prst="rect">
            <a:avLst/>
          </a:prstGeom>
          <a:solidFill>
            <a:srgbClr val="262626"/>
          </a:solidFill>
          <a:ln w="6350">
            <a:solidFill>
              <a:srgbClr val="4040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19956" y="3108960"/>
            <a:ext cx="3749040" cy="54864"/>
          </a:xfrm>
          <a:prstGeom prst="rect">
            <a:avLst/>
          </a:prstGeom>
          <a:solidFill>
            <a:srgbClr val="E25822"/>
          </a:solidFill>
          <a:ln w="12700">
            <a:solidFill>
              <a:srgbClr val="E258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94276" y="3337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E258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494276" y="374904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R$ 30 MM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494276" y="484632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2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ticket-alvo da rodada.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2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R$ 15 MM em soft commits no piso.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06156" y="3108960"/>
            <a:ext cx="3749040" cy="2926080"/>
          </a:xfrm>
          <a:prstGeom prst="rect">
            <a:avLst/>
          </a:prstGeom>
          <a:solidFill>
            <a:srgbClr val="262626"/>
          </a:solidFill>
          <a:ln w="6350">
            <a:solidFill>
              <a:srgbClr val="4040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06156" y="3108960"/>
            <a:ext cx="3749040" cy="54864"/>
          </a:xfrm>
          <a:prstGeom prst="rect">
            <a:avLst/>
          </a:prstGeom>
          <a:solidFill>
            <a:srgbClr val="E25822"/>
          </a:solidFill>
          <a:ln w="12700">
            <a:solidFill>
              <a:srgbClr val="E258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80476" y="3337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E258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380476" y="374904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Alta concentração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8380476" y="484632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2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poucos investidores, tickets grandes.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2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 &gt; volume.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817352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E258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OBJETIVOS  ·  Q3 2026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Quatro objetivos. Nenhum opcional.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um deles falhar, a captação não fecha no perfil que queremos.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70916" y="2697480"/>
            <a:ext cx="274320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CBC4B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0916" y="2697480"/>
            <a:ext cx="2743200" cy="54864"/>
          </a:xfrm>
          <a:prstGeom prst="rect">
            <a:avLst/>
          </a:prstGeom>
          <a:solidFill>
            <a:srgbClr val="E25822"/>
          </a:solidFill>
          <a:ln w="12700">
            <a:solidFill>
              <a:srgbClr val="E258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9516" y="28803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E258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99516" y="34747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 SHEET R$ 30 MM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99516" y="4206240"/>
            <a:ext cx="22860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+ data room revisados por advisor (sem 4).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8–12 reuniões com investidores qualificados.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R$ 15 MM+ em soft commits / LOI no piso.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0916" y="5806440"/>
            <a:ext cx="2743200" cy="4114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9516" y="583387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E258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99516" y="598932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2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/ captação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05556" y="2697480"/>
            <a:ext cx="274320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CBC4B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05556" y="2697480"/>
            <a:ext cx="2743200" cy="54864"/>
          </a:xfrm>
          <a:prstGeom prst="rect">
            <a:avLst/>
          </a:prstGeom>
          <a:solidFill>
            <a:srgbClr val="E25822"/>
          </a:solidFill>
          <a:ln w="12700">
            <a:solidFill>
              <a:srgbClr val="E258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34156" y="28803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E258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O2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534156" y="34747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VENTURE PILOTO RODANDO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534156" y="4206240"/>
            <a:ext cx="22860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M01 estável: 10+ oportunidades + Brief para 3.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M02 estável: Decision Package (8 volumes).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M03 alpha: estratégia + identidade.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305556" y="5806440"/>
            <a:ext cx="2743200" cy="4114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34156" y="583387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E258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534156" y="598932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2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devs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40196" y="2697480"/>
            <a:ext cx="274320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CBC4B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40196" y="2697480"/>
            <a:ext cx="2743200" cy="54864"/>
          </a:xfrm>
          <a:prstGeom prst="rect">
            <a:avLst/>
          </a:prstGeom>
          <a:solidFill>
            <a:srgbClr val="E25822"/>
          </a:solidFill>
          <a:ln w="12700">
            <a:solidFill>
              <a:srgbClr val="E2582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68796" y="28803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E258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O3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6368796" y="34747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DE CAPITAL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368796" y="4206240"/>
            <a:ext cx="22860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Orçamento M04–M08 validado por mentores.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operacional Forge por venture mapeado.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Tese de alocação R$ 30 MM formalizada.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140196" y="5806440"/>
            <a:ext cx="2743200" cy="4114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68796" y="583387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E258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368796" y="598932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2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 + lead dev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974836" y="2697480"/>
            <a:ext cx="274320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CBC4B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974836" y="2697480"/>
            <a:ext cx="2743200" cy="54864"/>
          </a:xfrm>
          <a:prstGeom prst="rect">
            <a:avLst/>
          </a:prstGeom>
          <a:solidFill>
            <a:srgbClr val="E25822"/>
          </a:solidFill>
          <a:ln w="12700">
            <a:solidFill>
              <a:srgbClr val="E2582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203436" y="28803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E258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O4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9203436" y="34747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GOVERNANÇA INSTITUCIONAL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9203436" y="4206240"/>
            <a:ext cx="22860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de portfolio: critérios + kill rules.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Board: ≥2 externos, 1 com credencial do alvo.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Tese de retorno validada em 2 reuniões prévias.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974836" y="5806440"/>
            <a:ext cx="2743200" cy="4114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203436" y="583387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E258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9203436" y="598932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2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 + advisors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  ·  Onboarding Q3 2026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10817352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E258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1  ·  HOJE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Setup da máquina de cada um.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Saímos daqui com todo mundo rodando o pipeline localmente. Marcos numerados, executados juntos.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2651760"/>
            <a:ext cx="411480" cy="411480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651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6060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+ clone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28803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Convite GitHub aceito. Repo `forge` clonado. Acesso ao 1Password do time.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2651760"/>
            <a:ext cx="411480" cy="411480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0" y="2651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766560" y="26060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`.env` configurado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766560" y="28803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Variáveis de LLM (OpenRouter), DB, Redis, Temporal, Qdrant, MinIO.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310128"/>
            <a:ext cx="411480" cy="411480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3101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326440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local rodando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353872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`pnpm infra:up` — Postgres, Redis, Temporal, Qdrant e MinIO healthy.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17920" y="3310128"/>
            <a:ext cx="411480" cy="411480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33101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766560" y="326440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Migrations + dev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766560" y="353872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`pnpm --filter @forge/db run db:migrate` e `pnpm dev` em todos os módulos.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968496"/>
            <a:ext cx="411480" cy="411480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9684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05840" y="392277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 test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05840" y="419709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venture via curl, ver workflow no Temporal UI em :8080.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17920" y="3968496"/>
            <a:ext cx="411480" cy="411480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0" y="39684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766560" y="392277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Primeiro PR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766560" y="419709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pessoal, edit trivial, PR aberto. Code review de outro dev passa.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50292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Definition of done do dia 1: todo mundo conseguiu fazer um `curl` que gera workflow rodando no Temporal.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" y="5577840"/>
            <a:ext cx="112471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CBC4B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5577840"/>
            <a:ext cx="54864" cy="640080"/>
          </a:xfrm>
          <a:prstGeom prst="rect">
            <a:avLst/>
          </a:prstGeom>
          <a:solidFill>
            <a:srgbClr val="E25822"/>
          </a:solidFill>
          <a:ln w="12700">
            <a:solidFill>
              <a:srgbClr val="E2582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565099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258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AMANHÃ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0080" y="587959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primeira issue real no Linear — ajudar a fechar dívida dos /reports 01-10.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  ·  Onboarding Q3 2026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0817352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E258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DE TIME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stack que vamos contratar hoje.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Pago, no nome da empresa. Onboarding feito junto pra ninguém ficar dependendo de conta pessoal.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2743200"/>
            <a:ext cx="548640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C4B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743200"/>
            <a:ext cx="54864" cy="1645920"/>
          </a:xfrm>
          <a:prstGeom prst="rect">
            <a:avLst/>
          </a:prstGeom>
          <a:solidFill>
            <a:srgbClr val="E25822"/>
          </a:solidFill>
          <a:ln w="12700">
            <a:solidFill>
              <a:srgbClr val="E258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92608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E258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RACIOCÍNIO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85800" y="31546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(Team)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85800" y="36118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Pensamento, design, especificação, code review assistido.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40233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 no nome da empresa, 1 seat por pessoa do time.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17920" y="2743200"/>
            <a:ext cx="548640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C4B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0" y="2743200"/>
            <a:ext cx="54864" cy="1645920"/>
          </a:xfrm>
          <a:prstGeom prst="rect">
            <a:avLst/>
          </a:prstGeom>
          <a:solidFill>
            <a:srgbClr val="E25822"/>
          </a:solidFill>
          <a:ln w="12700">
            <a:solidFill>
              <a:srgbClr val="E258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292608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E258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EXECUÇÃO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46520" y="31546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codex-cli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446520" y="36118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Execução agêntica local. O que escreve código de verdade.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46520" y="40233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Instalado na máquina de cada dev no setup do dia 1.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4572000"/>
            <a:ext cx="548640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C4B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4572000"/>
            <a:ext cx="54864" cy="1645920"/>
          </a:xfrm>
          <a:prstGeom prst="rect">
            <a:avLst/>
          </a:prstGeom>
          <a:solidFill>
            <a:srgbClr val="E25822"/>
          </a:solidFill>
          <a:ln w="12700">
            <a:solidFill>
              <a:srgbClr val="E258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475488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E258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PLANEJAMENTO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85800" y="4983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Linear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685800" y="54406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Issues, sprints, roadmap. Fonte única de verdade do que está sendo feito.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5800" y="58521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 `forge`. Todo mundo no plano Standard.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217920" y="4572000"/>
            <a:ext cx="548640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C4B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17920" y="4572000"/>
            <a:ext cx="54864" cy="1645920"/>
          </a:xfrm>
          <a:prstGeom prst="rect">
            <a:avLst/>
          </a:prstGeom>
          <a:solidFill>
            <a:srgbClr val="E25822"/>
          </a:solidFill>
          <a:ln w="12700">
            <a:solidFill>
              <a:srgbClr val="E2582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46520" y="475488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E258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446520" y="4983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GitHub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6446520" y="54406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Código, PRs, code review, CI. Plano free no início — Team quando precisar.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46520" y="58521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`forge-ai`. Branch protection em `main`.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  ·  Onboarding Q3 2026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0817352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E258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 DE TOKENS  ·  política de uso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Baseline pra começar. Calibramos em 2 semanas.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não é benefício, é insumo de produção. Tratar como tal.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2606040"/>
            <a:ext cx="4114800" cy="34747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743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E258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310896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R$ 1.000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685800" y="4297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F2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dev, por mês.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85800" y="4937760"/>
            <a:ext cx="3200400" cy="0"/>
          </a:xfrm>
          <a:prstGeom prst="line">
            <a:avLst/>
          </a:prstGeom>
          <a:noFill/>
          <a:ln w="6350">
            <a:solidFill>
              <a:srgbClr val="9CA3A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507492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 primária nas 2 primeiras semanas. Quem chegar perto do teto cedo, sinaliza. Subimos sem drama.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46320" y="2606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 NO POOL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46320" y="2926080"/>
            <a:ext cx="3657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Trabalho em código do repo `forge`.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Spec, design, eval, debug do produto Forge.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 de mercado / oportunidades pro pipeline.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 e refactor.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595360" y="2606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CONTA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595360" y="2926080"/>
            <a:ext cx="3200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projects, freelas, estudo pessoal.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pessoal, brainstorms da família.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Cursos, leituras de fora do trabalho.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 dúvida se conta? Pergunta antes.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46320" y="5394960"/>
            <a:ext cx="69494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C4B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46320" y="5394960"/>
            <a:ext cx="54864" cy="685800"/>
          </a:xfrm>
          <a:prstGeom prst="rect">
            <a:avLst/>
          </a:prstGeom>
          <a:solidFill>
            <a:srgbClr val="E25822"/>
          </a:solidFill>
          <a:ln w="12700">
            <a:solidFill>
              <a:srgbClr val="E258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0" y="54589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258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PEDIR AUMENTO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29200" y="566928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no Linear com tag `tokens` + justificativa em 1 parágrafo. Resposta em ≤ 24h.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  ·  Onboarding Q3 2026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0817352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E258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  ·  como entregamos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Cinco regras concretas. Aplicam a todo PR.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são princípios na parede. Quem desviar tem que defender no review.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258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26974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por issue do Linear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303520" y="269748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começa sem issue. ID do Linear no nome da branch. Sem branch órfã.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319272"/>
            <a:ext cx="11247120" cy="0"/>
          </a:xfrm>
          <a:prstGeom prst="line">
            <a:avLst/>
          </a:prstGeom>
          <a:noFill/>
          <a:ln w="9525">
            <a:solidFill>
              <a:srgbClr val="CBC4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36499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258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97280" y="341071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pequeno + review obrigatório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303520" y="341071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 400 linhas. 1 reviewer humano + checks automáticos. Sem merge no `main` direto.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4032504"/>
            <a:ext cx="11247120" cy="0"/>
          </a:xfrm>
          <a:prstGeom prst="line">
            <a:avLst/>
          </a:prstGeom>
          <a:noFill/>
          <a:ln w="9525">
            <a:solidFill>
              <a:srgbClr val="CBC4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07822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258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97280" y="412394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Schema-first nos contratos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303520" y="4123944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Mudou JSON Schema em /contracts, regenera tipos e atualiza ambos os lados no mesmo PR.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745736"/>
            <a:ext cx="11247120" cy="0"/>
          </a:xfrm>
          <a:prstGeom prst="line">
            <a:avLst/>
          </a:prstGeom>
          <a:noFill/>
          <a:ln w="9525">
            <a:solidFill>
              <a:srgbClr val="CBC4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791456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258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97280" y="483717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Eval-gate antes do merge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303520" y="4837176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Mudança em agente roda eval suite. Regressão bloqueia merge — sem exceção.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5458968"/>
            <a:ext cx="11247120" cy="0"/>
          </a:xfrm>
          <a:prstGeom prst="line">
            <a:avLst/>
          </a:prstGeom>
          <a:noFill/>
          <a:ln w="9525">
            <a:solidFill>
              <a:srgbClr val="CBC4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550468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258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97280" y="555040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= squash + tag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303520" y="5550408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Squash merge na main, tag semver, deploy automático. Hotfix segue o mesmo fluxo.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  ·  Onboarding Q3 2026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0817352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E258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CADÊNCIA  ·  toda semana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Quatro ritos. Esse é o piso.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ritos, time de 5 se desorganiza em duas semanas.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2724912"/>
            <a:ext cx="777240" cy="5029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724912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17320" y="276148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09h00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0" y="27157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 Sync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743200" y="299923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min. Onde está o piloto, onde está a captação, o que está bloqueado.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383280"/>
            <a:ext cx="11247120" cy="0"/>
          </a:xfrm>
          <a:prstGeom prst="line">
            <a:avLst/>
          </a:prstGeom>
          <a:noFill/>
          <a:ln w="9525">
            <a:solidFill>
              <a:srgbClr val="CBC4B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3502152"/>
            <a:ext cx="777240" cy="5029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502152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17320" y="353872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14h00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743200" y="34930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interno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743200" y="377647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min. Algo do M01/M02/M03 rodando ao vivo. Se nada rodou, é problema.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160520"/>
            <a:ext cx="11247120" cy="0"/>
          </a:xfrm>
          <a:prstGeom prst="line">
            <a:avLst/>
          </a:prstGeom>
          <a:noFill/>
          <a:ln w="9525">
            <a:solidFill>
              <a:srgbClr val="CBC4B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4279392"/>
            <a:ext cx="777240" cy="5029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279392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417320" y="431596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10h00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743200" y="42702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Captação review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743200" y="455371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min. Pipeline de investidores, próximas reuniões, material a revisar.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937760"/>
            <a:ext cx="11247120" cy="0"/>
          </a:xfrm>
          <a:prstGeom prst="line">
            <a:avLst/>
          </a:prstGeom>
          <a:noFill/>
          <a:ln w="9525">
            <a:solidFill>
              <a:srgbClr val="CBC4B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5056632"/>
            <a:ext cx="777240" cy="5029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5056632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417320" y="509320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16h00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743200" y="50474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 + adjust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2743200" y="533095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min. O que aprendemos, o que muda na próxima semana.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  ·  Onboarding Q3 2026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0817352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164592" cy="164592"/>
          </a:xfrm>
          <a:prstGeom prst="rect">
            <a:avLst/>
          </a:prstGeom>
          <a:solidFill>
            <a:srgbClr val="E25822"/>
          </a:solidFill>
          <a:ln w="12700">
            <a:solidFill>
              <a:srgbClr val="E258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  ·  Q3 2026  ·  semana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OK. Vamos abrir o laptop.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24688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5F2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cada um entrega nos próximos 7 dias.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3200400"/>
            <a:ext cx="54864" cy="411480"/>
          </a:xfrm>
          <a:prstGeom prst="rect">
            <a:avLst/>
          </a:prstGeom>
          <a:solidFill>
            <a:srgbClr val="E25822"/>
          </a:solidFill>
          <a:ln w="12700">
            <a:solidFill>
              <a:srgbClr val="E258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108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258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33832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completo + 1 PR aprovado + 1 issue de /reports atribuída no Linear.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721608"/>
            <a:ext cx="11247120" cy="0"/>
          </a:xfrm>
          <a:prstGeom prst="line">
            <a:avLst/>
          </a:prstGeom>
          <a:noFill/>
          <a:ln w="6350">
            <a:solidFill>
              <a:srgbClr val="26262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3858768"/>
            <a:ext cx="54864" cy="411480"/>
          </a:xfrm>
          <a:prstGeom prst="rect">
            <a:avLst/>
          </a:prstGeom>
          <a:solidFill>
            <a:srgbClr val="E25822"/>
          </a:solidFill>
          <a:ln w="12700">
            <a:solidFill>
              <a:srgbClr val="E258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7673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258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404164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dos 12 investidores-alvo no Linear. Material do pitch revisado por advisor.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4379976"/>
            <a:ext cx="11247120" cy="0"/>
          </a:xfrm>
          <a:prstGeom prst="line">
            <a:avLst/>
          </a:prstGeom>
          <a:noFill/>
          <a:ln w="6350">
            <a:solidFill>
              <a:srgbClr val="26262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4517136"/>
            <a:ext cx="54864" cy="411480"/>
          </a:xfrm>
          <a:prstGeom prst="rect">
            <a:avLst/>
          </a:prstGeom>
          <a:solidFill>
            <a:srgbClr val="E25822"/>
          </a:solidFill>
          <a:ln w="12700">
            <a:solidFill>
              <a:srgbClr val="E258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42569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258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· CAPTAÇÃO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4700016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reuniões exploratórias agendadas. Calendário compartilhado com GP.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5038344"/>
            <a:ext cx="11247120" cy="0"/>
          </a:xfrm>
          <a:prstGeom prst="line">
            <a:avLst/>
          </a:prstGeom>
          <a:noFill/>
          <a:ln w="6350">
            <a:solidFill>
              <a:srgbClr val="26262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5175504"/>
            <a:ext cx="54864" cy="411480"/>
          </a:xfrm>
          <a:prstGeom prst="rect">
            <a:avLst/>
          </a:prstGeom>
          <a:solidFill>
            <a:srgbClr val="E25822"/>
          </a:solidFill>
          <a:ln w="12700">
            <a:solidFill>
              <a:srgbClr val="E258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508406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258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· ESTRATÉGIA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5358384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Tese de retorno revisada. Orçamento M04–M08 começado com lead dev.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6035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  ·  construído nos BRICS  ·  para o mundo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817352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Forge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Forge AI — Onboarding Q3 2026</dc:title>
  <dc:subject>PptxGenJS Presentation</dc:subject>
  <dc:creator>Forge AI</dc:creator>
  <cp:lastModifiedBy>Forge AI</cp:lastModifiedBy>
  <cp:revision>1</cp:revision>
  <dcterms:created xsi:type="dcterms:W3CDTF">2026-05-12T20:42:39Z</dcterms:created>
  <dcterms:modified xsi:type="dcterms:W3CDTF">2026-05-12T20:42:39Z</dcterms:modified>
</cp:coreProperties>
</file>